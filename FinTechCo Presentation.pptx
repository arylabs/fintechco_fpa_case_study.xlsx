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4AA215-4BE6-4357-A031-1D558C327312}" v="1" dt="2026-08-27T08:16:48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38.9</c:v>
                </c:pt>
                <c:pt idx="1">
                  <c:v>39</c:v>
                </c:pt>
                <c:pt idx="2">
                  <c:v>38.799999999999997</c:v>
                </c:pt>
                <c:pt idx="3">
                  <c:v>38.700000000000003</c:v>
                </c:pt>
                <c:pt idx="4">
                  <c:v>38.799999999999997</c:v>
                </c:pt>
                <c:pt idx="5">
                  <c:v>38.799999999999997</c:v>
                </c:pt>
                <c:pt idx="6">
                  <c:v>39</c:v>
                </c:pt>
                <c:pt idx="7">
                  <c:v>38.799999999999997</c:v>
                </c:pt>
                <c:pt idx="8">
                  <c:v>38.9</c:v>
                </c:pt>
                <c:pt idx="9">
                  <c:v>38.799999999999997</c:v>
                </c:pt>
                <c:pt idx="10">
                  <c:v>38.799999999999997</c:v>
                </c:pt>
                <c:pt idx="11">
                  <c:v>38.9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DC-4779-970B-20E8FA302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MoM Growth %</c:v>
                </c:pt>
              </c:strCache>
            </c:strRef>
          </c:tx>
          <c:spPr>
            <a:ln w="31750" cap="flat">
              <a:solidFill>
                <a:srgbClr val="7FA8D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7FA8D9"/>
              </a:solidFill>
              <a:ln w="9525" cap="flat">
                <a:solidFill>
                  <a:srgbClr val="7FA8D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1">
                  <c:v>4.2</c:v>
                </c:pt>
                <c:pt idx="2">
                  <c:v>4</c:v>
                </c:pt>
                <c:pt idx="3">
                  <c:v>2.9</c:v>
                </c:pt>
                <c:pt idx="4">
                  <c:v>1.9</c:v>
                </c:pt>
                <c:pt idx="5">
                  <c:v>2.8</c:v>
                </c:pt>
                <c:pt idx="6">
                  <c:v>2.7</c:v>
                </c:pt>
                <c:pt idx="7">
                  <c:v>1.8</c:v>
                </c:pt>
                <c:pt idx="8">
                  <c:v>3.4</c:v>
                </c:pt>
                <c:pt idx="9">
                  <c:v>2.5</c:v>
                </c:pt>
                <c:pt idx="10">
                  <c:v>2.4</c:v>
                </c:pt>
                <c:pt idx="11">
                  <c:v>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DC-4779-970B-20E8FA302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35"/>
        </c:scaling>
        <c:delete val="0"/>
        <c:axPos val="l"/>
        <c:majorGridlines>
          <c:spPr>
            <a:ln w="6350" cap="flat">
              <a:solidFill>
                <a:srgbClr val="2A3B5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7E8CA3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7E8CA3"/>
                    </a:solidFill>
                    <a:latin typeface="Arial"/>
                  </a:rPr>
                  <a:t>YoY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7E8CA3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7E8CA3"/>
                    </a:solidFill>
                    <a:latin typeface="Arial"/>
                  </a:rPr>
                  <a:t>MoM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1B2A4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AB8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</c:v>
                </c:pt>
                <c:pt idx="1">
                  <c:v>-2</c:v>
                </c:pt>
                <c:pt idx="2">
                  <c:v>-2.8</c:v>
                </c:pt>
                <c:pt idx="3">
                  <c:v>-4.5</c:v>
                </c:pt>
                <c:pt idx="4">
                  <c:v>-5.3</c:v>
                </c:pt>
                <c:pt idx="5">
                  <c:v>-8.3000000000000007</c:v>
                </c:pt>
                <c:pt idx="6">
                  <c:v>-10.9</c:v>
                </c:pt>
                <c:pt idx="7">
                  <c:v>-14.7</c:v>
                </c:pt>
                <c:pt idx="8">
                  <c:v>-16.7</c:v>
                </c:pt>
                <c:pt idx="9">
                  <c:v>-19.100000000000001</c:v>
                </c:pt>
                <c:pt idx="10">
                  <c:v>-21.3</c:v>
                </c:pt>
                <c:pt idx="11">
                  <c:v>-23.5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8-4EA5-B586-BCC54D012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A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4C6E9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</c:v>
                </c:pt>
                <c:pt idx="1">
                  <c:v>74</c:v>
                </c:pt>
                <c:pt idx="2">
                  <c:v>78</c:v>
                </c:pt>
                <c:pt idx="3">
                  <c:v>82</c:v>
                </c:pt>
                <c:pt idx="4">
                  <c:v>85</c:v>
                </c:pt>
                <c:pt idx="5">
                  <c:v>90</c:v>
                </c:pt>
                <c:pt idx="6">
                  <c:v>95</c:v>
                </c:pt>
                <c:pt idx="7">
                  <c:v>100</c:v>
                </c:pt>
                <c:pt idx="8">
                  <c:v>105</c:v>
                </c:pt>
                <c:pt idx="9">
                  <c:v>110</c:v>
                </c:pt>
                <c:pt idx="10">
                  <c:v>115</c:v>
                </c:pt>
                <c:pt idx="1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1-4239-809A-F0FFF66F7E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</c:v>
                </c:pt>
                <c:pt idx="1">
                  <c:v>80</c:v>
                </c:pt>
                <c:pt idx="2">
                  <c:v>90</c:v>
                </c:pt>
                <c:pt idx="3">
                  <c:v>100</c:v>
                </c:pt>
                <c:pt idx="4">
                  <c:v>110</c:v>
                </c:pt>
                <c:pt idx="5">
                  <c:v>125</c:v>
                </c:pt>
                <c:pt idx="6">
                  <c:v>140</c:v>
                </c:pt>
                <c:pt idx="7">
                  <c:v>155</c:v>
                </c:pt>
                <c:pt idx="8">
                  <c:v>165</c:v>
                </c:pt>
                <c:pt idx="9">
                  <c:v>175</c:v>
                </c:pt>
                <c:pt idx="10">
                  <c:v>180</c:v>
                </c:pt>
                <c:pt idx="11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61-4239-809A-F0FFF66F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AB8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(on pace)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Oct-26 (Est. BE)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-173</c:v>
                </c:pt>
                <c:pt idx="1">
                  <c:v>-155</c:v>
                </c:pt>
                <c:pt idx="2">
                  <c:v>-135</c:v>
                </c:pt>
                <c:pt idx="3">
                  <c:v>-116</c:v>
                </c:pt>
                <c:pt idx="4">
                  <c:v>-97</c:v>
                </c:pt>
                <c:pt idx="5">
                  <c:v>-78</c:v>
                </c:pt>
                <c:pt idx="6">
                  <c:v>-59</c:v>
                </c:pt>
                <c:pt idx="7">
                  <c:v>-40</c:v>
                </c:pt>
                <c:pt idx="8">
                  <c:v>-21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0E-4B14-BE94-38B004275E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risk (if costs slip)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Oct-26 (Est. BE)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2">
                  <c:v>-135</c:v>
                </c:pt>
                <c:pt idx="3">
                  <c:v>-145</c:v>
                </c:pt>
                <c:pt idx="4">
                  <c:v>-160</c:v>
                </c:pt>
                <c:pt idx="5">
                  <c:v>-180</c:v>
                </c:pt>
                <c:pt idx="6">
                  <c:v>-205</c:v>
                </c:pt>
                <c:pt idx="7">
                  <c:v>-235</c:v>
                </c:pt>
                <c:pt idx="8">
                  <c:v>-270</c:v>
                </c:pt>
                <c:pt idx="9">
                  <c:v>-310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0E-4B14-BE94-38B004275E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8C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AB8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65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64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82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09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316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40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583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204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070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94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820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55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3510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79105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59950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350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963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0105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164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90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24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145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064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7275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3739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4377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4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43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16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9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Performance Review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FY2026 Outlook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59" y="2148840"/>
            <a:ext cx="2337335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one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06040" cy="82296"/>
          </a:xfrm>
          <a:prstGeom prst="round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08152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56616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" y="44805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FY2024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7889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10712" y="2788920"/>
            <a:ext cx="2606040" cy="82296"/>
          </a:xfrm>
          <a:prstGeom prst="round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308152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356616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-12.2%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11880" y="44805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$6.76M vs $7.70M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7889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788920"/>
            <a:ext cx="2606040" cy="82296"/>
          </a:xfrm>
          <a:prstGeom prst="round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308152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EBITDA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356616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-$1.39M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73952" y="44805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+$0.59M budget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7889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34856" y="2788920"/>
            <a:ext cx="2606040" cy="82296"/>
          </a:xfrm>
          <a:prstGeom prst="round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36024" y="3081528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6024" y="356616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mo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36024" y="44805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target: 12 mo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&amp; 3 — GROWTH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 is real — but execution against plan is slipping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vs YoY growth (%)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743200"/>
          <a:ext cx="62179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2194560"/>
            <a:ext cx="4233672" cy="3977640"/>
          </a:xfrm>
          <a:prstGeom prst="roundRect">
            <a:avLst>
              <a:gd name="adj" fmla="val 183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3524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%, by month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7589520" y="2743200"/>
          <a:ext cx="3840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&amp; 2 — COST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deep-dive: headcount &amp; marketing overspend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grew ahead of plan — 62 actual vs 55 budgeted. Marketing reached 28% of December revenue ($185K) vs a $120K budget — the single largest cost overrun of FY2025 at $453K annualized, without a proportional increase in new merchants.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200400" cy="3749040"/>
          </a:xfrm>
          <a:prstGeom prst="roundRect">
            <a:avLst>
              <a:gd name="adj" fmla="val 2286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EOM DEC-25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A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3017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148840" y="3703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8C2E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unplanned hires (+12.7%)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sustained payroll pressure on top of the revenue miss.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2423160"/>
            <a:ext cx="7662672" cy="3749040"/>
          </a:xfrm>
          <a:prstGeom prst="roundRect">
            <a:avLst>
              <a:gd name="adj" fmla="val 1951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spend: budget vs actual ($'000/mo)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60520" y="2971800"/>
          <a:ext cx="7223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EBITDA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 bridge: budget to actual (FY2025, $'000)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370811"/>
            <a:ext cx="10972800" cy="0"/>
          </a:xfrm>
          <a:prstGeom prst="line">
            <a:avLst/>
          </a:prstGeom>
          <a:noFill/>
          <a:ln w="12700">
            <a:solidFill>
              <a:srgbClr val="2A3B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323365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35152" y="2335627"/>
            <a:ext cx="829056" cy="1035184"/>
          </a:xfrm>
          <a:prstGeom prst="rect">
            <a:avLst/>
          </a:prstGeom>
          <a:solidFill>
            <a:srgbClr val="4C6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6552" y="2043019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+$593K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65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4352" y="2335627"/>
            <a:ext cx="829056" cy="1148653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5752" y="3539144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-$658K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57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73552" y="3484280"/>
            <a:ext cx="829056" cy="677321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44952" y="4216465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-$388K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9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92752" y="4161601"/>
            <a:ext cx="829056" cy="790789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64152" y="5007254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-$453K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641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11952" y="4952390"/>
            <a:ext cx="829056" cy="677321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3352" y="5684575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-$388K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33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31152" y="5629711"/>
            <a:ext cx="829056" cy="62844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02552" y="5747419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-$36K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025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50352" y="5692555"/>
            <a:ext cx="829056" cy="109978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21752" y="5857397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-$63K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217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69552" y="5802533"/>
            <a:ext cx="829056" cy="3175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0952" y="5857397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0952" y="6062472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588752" y="3370811"/>
            <a:ext cx="829056" cy="2431722"/>
          </a:xfrm>
          <a:prstGeom prst="rect">
            <a:avLst/>
          </a:prstGeom>
          <a:solidFill>
            <a:srgbClr val="8C2E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60152" y="5857397"/>
            <a:ext cx="1286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-$1,393K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60152" y="6045819"/>
            <a:ext cx="1286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risk &amp; the path to cost discipline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4663440"/>
          </a:xfrm>
          <a:prstGeom prst="roundRect">
            <a:avLst>
              <a:gd name="adj" fmla="val 1860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months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12-month Board minimum target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223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1216152" cy="411480"/>
          </a:xfrm>
          <a:prstGeom prst="roundRect">
            <a:avLst>
              <a:gd name="adj" fmla="val 13333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3566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 target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 (Dec-25):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$808K
</a:t>
            </a:r>
            <a:r>
              <a:rPr lang="en-US" sz="120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burn (Q4):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$194K/mo
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1508760"/>
            <a:ext cx="6931152" cy="4663440"/>
          </a:xfrm>
          <a:prstGeom prst="roundRect">
            <a:avLst>
              <a:gd name="adj" fmla="val 1569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COST OPTIMIZATION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130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discipline (channel cuts + 20% revenue cap)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0" y="213055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$453/yr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2807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0" y="278892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4655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7980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Customer Acquisition Cost (CAC) per channel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0" y="3447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169664"/>
            <a:ext cx="6492240" cy="0"/>
          </a:xfrm>
          <a:prstGeom prst="line">
            <a:avLst/>
          </a:prstGeom>
          <a:noFill/>
          <a:ln w="12700">
            <a:solidFill>
              <a:srgbClr val="2A3B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43068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annual impact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0" y="426110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$883K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2C92AD57-43C5-6A90-1E75-355A84743B0B}"/>
              </a:ext>
            </a:extLst>
          </p:cNvPr>
          <p:cNvSpPr/>
          <p:nvPr/>
        </p:nvSpPr>
        <p:spPr>
          <a:xfrm>
            <a:off x="5321808" y="3449053"/>
            <a:ext cx="5928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Freeze the 8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planned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Q1 2026 hires until EBITDA improvement is confirmed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F1B24F0D-354F-69E5-DF2C-B85AD4411062}"/>
              </a:ext>
            </a:extLst>
          </p:cNvPr>
          <p:cNvSpPr/>
          <p:nvPr/>
        </p:nvSpPr>
        <p:spPr>
          <a:xfrm>
            <a:off x="10599516" y="3447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$430K/yr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&amp; 6 — FORWARD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breakeven — and what it depends 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635240" cy="4023360"/>
          </a:xfrm>
          <a:prstGeom prst="roundRect">
            <a:avLst>
              <a:gd name="adj" fmla="val 1818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trajectory to breakeven ($'000)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2697480"/>
          <a:ext cx="73152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2697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line ($0)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366760" y="2148840"/>
            <a:ext cx="3273552" cy="4023360"/>
          </a:xfrm>
          <a:prstGeom prst="roundRect">
            <a:avLst>
              <a:gd name="adj" fmla="val 2235"/>
            </a:avLst>
          </a:prstGeom>
          <a:solidFill>
            <a:srgbClr val="1B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0" y="2331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95360" y="2697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spend staying disciplined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Headcount growth staying controlled despite planned Q1 hires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slips, breakeven could push into 2027.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95360" y="4206240"/>
            <a:ext cx="2834640" cy="0"/>
          </a:xfrm>
          <a:prstGeom prst="line">
            <a:avLst/>
          </a:prstGeom>
          <a:noFill/>
          <a:ln w="12700">
            <a:solidFill>
              <a:srgbClr val="2A3B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95360" y="4389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95360" y="4754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part of the $1.5M credit facility now to protect the 4.2-month runway — paired with the cost controls above, not as a substitute for them.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FinTechCo — FY2025 Board Review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229</TotalTime>
  <Words>464</Words>
  <Application>Microsoft Office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Aryam H. Alqarihi</cp:lastModifiedBy>
  <cp:revision>2</cp:revision>
  <dcterms:created xsi:type="dcterms:W3CDTF">2026-08-26T23:21:02Z</dcterms:created>
  <dcterms:modified xsi:type="dcterms:W3CDTF">2026-08-27T08:23:17Z</dcterms:modified>
</cp:coreProperties>
</file>